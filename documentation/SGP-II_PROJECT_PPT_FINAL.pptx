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Epilogue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Fraunces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96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66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280190" y="17729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Zero Trust Security and </a:t>
            </a:r>
            <a:r>
              <a:rPr lang="en-US" sz="4450" dirty="0" smtClean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Real Time </a:t>
            </a:r>
            <a:r>
              <a:rPr lang="en-US" sz="44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Threat Detection in AWS Cloud</a:t>
            </a:r>
            <a:endParaRPr lang="en-US" sz="4450" dirty="0">
              <a:latin typeface="Roboto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280190" y="42394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Student: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Dahiya </a:t>
            </a:r>
            <a:r>
              <a:rPr lang="en-US" sz="1750" dirty="0" err="1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Mandeepsinh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dirty="0" smtClean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</a:t>
            </a:r>
          </a:p>
        </p:txBody>
      </p:sp>
      <p:sp>
        <p:nvSpPr>
          <p:cNvPr id="22" name="Text 2"/>
          <p:cNvSpPr/>
          <p:nvPr/>
        </p:nvSpPr>
        <p:spPr>
          <a:xfrm>
            <a:off x="6280189" y="53479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Department :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Artificial Intelligence and Machine Learning</a:t>
            </a:r>
            <a:endParaRPr lang="en-US" sz="1750" dirty="0">
              <a:latin typeface="Roboto"/>
            </a:endParaRPr>
          </a:p>
        </p:txBody>
      </p:sp>
      <p:sp>
        <p:nvSpPr>
          <p:cNvPr id="23" name="Text 3"/>
          <p:cNvSpPr/>
          <p:nvPr/>
        </p:nvSpPr>
        <p:spPr>
          <a:xfrm>
            <a:off x="6280190" y="593149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Faculty Guide: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Mr. Deep Mendha</a:t>
            </a:r>
            <a:endParaRPr lang="en-US" sz="1750" dirty="0">
              <a:latin typeface="Roboto"/>
            </a:endParaRPr>
          </a:p>
        </p:txBody>
      </p:sp>
      <p:sp>
        <p:nvSpPr>
          <p:cNvPr id="24" name="Text 4"/>
          <p:cNvSpPr/>
          <p:nvPr/>
        </p:nvSpPr>
        <p:spPr>
          <a:xfrm>
            <a:off x="6280190" y="65495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Date: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15th November, 2025</a:t>
            </a:r>
            <a:endParaRPr lang="en-US" sz="1750" dirty="0">
              <a:latin typeface="Roboto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3911" y="7658081"/>
            <a:ext cx="2306489" cy="57151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21896" y="4851698"/>
            <a:ext cx="6440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b="1" dirty="0" smtClean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Student</a:t>
            </a:r>
            <a:r>
              <a:rPr lang="en-US" b="1" dirty="0" smtClean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ID</a:t>
            </a:r>
            <a:r>
              <a:rPr lang="en-US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:</a:t>
            </a:r>
            <a:r>
              <a:rPr lang="en-US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D24AIML081</a:t>
            </a:r>
            <a:endParaRPr lang="en-US" sz="1750" dirty="0">
              <a:latin typeface="Roboto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3700"/>
            <a:ext cx="106946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The Need for Zero-Trust Cloud Security</a:t>
            </a:r>
            <a:endParaRPr lang="en-US" sz="4450" dirty="0">
              <a:latin typeface="Robo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958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Critical Challenges</a:t>
            </a:r>
            <a:endParaRPr lang="en-US" sz="2650" dirty="0">
              <a:latin typeface="Roboto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4794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Modern cloud environments face sophisticated threats including credential theft, unauthorized access, and network reconnaissance. Traditional perimeter-based security is insufficient.</a:t>
            </a:r>
            <a:endParaRPr lang="en-US" sz="1750" dirty="0">
              <a:latin typeface="Roboto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2036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Cloud infrastructure requires continuous verification, real-time monitoring, and immediate threat response capabilities to protect critical workloads and data.</a:t>
            </a:r>
            <a:endParaRPr lang="en-US" sz="1750" dirty="0">
              <a:latin typeface="Robo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28958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Our Solution</a:t>
            </a:r>
            <a:endParaRPr lang="en-US" sz="2650" dirty="0">
              <a:latin typeface="Roboto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54794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This project implements a robust monitoring framework combining AWS-native tools with open-source IDS technology.</a:t>
            </a:r>
            <a:endParaRPr lang="en-US" sz="1750" dirty="0">
              <a:latin typeface="Roboto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8407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AWS EC2 for workload deployment</a:t>
            </a:r>
            <a:endParaRPr lang="en-US" sz="1750" dirty="0">
              <a:latin typeface="Robo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52829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GuardDuty for cloud-native threat intelligence</a:t>
            </a:r>
            <a:endParaRPr lang="en-US" sz="1750" dirty="0">
              <a:latin typeface="Robot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7251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Suricata IDS for packet-level analysis</a:t>
            </a:r>
            <a:endParaRPr lang="en-US" sz="1750" dirty="0">
              <a:latin typeface="Roboto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6167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Real-world attack simulations</a:t>
            </a:r>
            <a:endParaRPr lang="en-US" sz="1750" dirty="0">
              <a:latin typeface="Roboto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851" y="7724705"/>
            <a:ext cx="249589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1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302" y="725210"/>
            <a:ext cx="4988004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Problem Statement</a:t>
            </a:r>
            <a:endParaRPr lang="en-US" sz="3900" dirty="0">
              <a:latin typeface="Robot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8302" y="1747599"/>
            <a:ext cx="4278273" cy="2152769"/>
          </a:xfrm>
          <a:prstGeom prst="roundRect">
            <a:avLst>
              <a:gd name="adj" fmla="val 5097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5442" y="1747599"/>
            <a:ext cx="91440" cy="2152769"/>
          </a:xfrm>
          <a:prstGeom prst="roundRect">
            <a:avLst>
              <a:gd name="adj" fmla="val 91644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989171" y="1969889"/>
            <a:ext cx="264056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Port Scanning Attacks</a:t>
            </a:r>
            <a:endParaRPr lang="en-US" sz="1950" dirty="0">
              <a:latin typeface="Robo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9171" y="2401253"/>
            <a:ext cx="3765113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Reconnaissance activities targeting exposed services and identifying vulnerable entry points in cloud infrastructure.</a:t>
            </a:r>
            <a:endParaRPr lang="en-US" sz="1550" dirty="0">
              <a:latin typeface="Robot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76004" y="1747599"/>
            <a:ext cx="4278273" cy="2152769"/>
          </a:xfrm>
          <a:prstGeom prst="roundRect">
            <a:avLst>
              <a:gd name="adj" fmla="val 5097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53144" y="1747599"/>
            <a:ext cx="91440" cy="2152769"/>
          </a:xfrm>
          <a:prstGeom prst="roundRect">
            <a:avLst>
              <a:gd name="adj" fmla="val 91644"/>
            </a:avLst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5466874" y="1969889"/>
            <a:ext cx="275748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Root Credential Misuse</a:t>
            </a:r>
            <a:endParaRPr lang="en-US" sz="1950" dirty="0">
              <a:latin typeface="Robot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66874" y="2401253"/>
            <a:ext cx="3765113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Unauthorized use of privileged accounts creating significant security risks and compliance violations.</a:t>
            </a:r>
            <a:endParaRPr lang="en-US" sz="1550" dirty="0">
              <a:latin typeface="Robot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53707" y="1747599"/>
            <a:ext cx="4278392" cy="2152769"/>
          </a:xfrm>
          <a:prstGeom prst="roundRect">
            <a:avLst>
              <a:gd name="adj" fmla="val 5097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0847" y="1747599"/>
            <a:ext cx="91440" cy="2152769"/>
          </a:xfrm>
          <a:prstGeom prst="roundRect">
            <a:avLst>
              <a:gd name="adj" fmla="val 91644"/>
            </a:avLst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9944576" y="1969889"/>
            <a:ext cx="340947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Suspicious Outbound Traffic</a:t>
            </a:r>
            <a:endParaRPr lang="en-US" sz="1950" dirty="0">
              <a:latin typeface="Roboto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44576" y="2401253"/>
            <a:ext cx="3765232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Unauthorized data exfiltration attempts and command-and-control communications from compromised instances.</a:t>
            </a:r>
            <a:endParaRPr lang="en-US" sz="1550" dirty="0">
              <a:latin typeface="Robot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8302" y="4099798"/>
            <a:ext cx="4278273" cy="1833563"/>
          </a:xfrm>
          <a:prstGeom prst="roundRect">
            <a:avLst>
              <a:gd name="adj" fmla="val 5984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5442" y="4099798"/>
            <a:ext cx="91440" cy="1833563"/>
          </a:xfrm>
          <a:prstGeom prst="roundRect">
            <a:avLst>
              <a:gd name="adj" fmla="val 91644"/>
            </a:avLst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989171" y="4322088"/>
            <a:ext cx="261389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IAM Misconfiguration</a:t>
            </a:r>
            <a:endParaRPr lang="en-US" sz="1950" dirty="0">
              <a:latin typeface="Robo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9171" y="4753451"/>
            <a:ext cx="3765113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Overly permissive policies and improper role assignments leading to privilege escalation vulnerabilities.</a:t>
            </a:r>
            <a:endParaRPr lang="en-US" sz="1550" dirty="0">
              <a:latin typeface="Robot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76004" y="4099798"/>
            <a:ext cx="4278273" cy="1833563"/>
          </a:xfrm>
          <a:prstGeom prst="roundRect">
            <a:avLst>
              <a:gd name="adj" fmla="val 5984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53144" y="4099798"/>
            <a:ext cx="91440" cy="1833563"/>
          </a:xfrm>
          <a:prstGeom prst="roundRect">
            <a:avLst>
              <a:gd name="adj" fmla="val 91644"/>
            </a:avLst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5466874" y="4322088"/>
            <a:ext cx="356175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Lack of Real-Time Monitoring</a:t>
            </a:r>
            <a:endParaRPr lang="en-US" sz="1950" dirty="0">
              <a:latin typeface="Robot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66874" y="4753451"/>
            <a:ext cx="3765113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Delayed threat detection and response capabilities resulting in extended dwell times for attackers.</a:t>
            </a:r>
            <a:endParaRPr lang="en-US" sz="1550" dirty="0">
              <a:latin typeface="Robot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97506" y="6456998"/>
            <a:ext cx="12934593" cy="74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"How can we detect and respond to suspicious activities in a cloud environment using Zero-Trust principles?"</a:t>
            </a:r>
            <a:endParaRPr lang="en-US" sz="2000" dirty="0">
              <a:latin typeface="Robot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8302" y="6157793"/>
            <a:ext cx="22860" cy="1346597"/>
          </a:xfrm>
          <a:prstGeom prst="rect">
            <a:avLst/>
          </a:prstGeom>
          <a:solidFill>
            <a:srgbClr val="8C98CA"/>
          </a:solidFill>
          <a:ln/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502" y="7636683"/>
            <a:ext cx="2495898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278" y="708660"/>
            <a:ext cx="6361986" cy="626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Project Objectives &amp; Scope</a:t>
            </a:r>
            <a:endParaRPr lang="en-US" sz="3900" dirty="0">
              <a:latin typeface="Robo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1278" y="1735693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>
              <a:latin typeface="Roboto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1278" y="2053233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701278" y="2199084"/>
            <a:ext cx="3939421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Deploy Monitored EC2 Workload</a:t>
            </a:r>
            <a:endParaRPr lang="en-US" sz="1950" dirty="0">
              <a:latin typeface="Robo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1278" y="2632353"/>
            <a:ext cx="4275653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Provision Ubuntu-based EC2 instance with Apache web server for realistic attack surface testing.</a:t>
            </a:r>
            <a:endParaRPr lang="en-US" sz="1550" dirty="0">
              <a:latin typeface="Roboto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7314" y="1735693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>
              <a:latin typeface="Robot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77314" y="2053233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5177314" y="2199084"/>
            <a:ext cx="361854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Enable GuardDuty Monitoring</a:t>
            </a:r>
            <a:endParaRPr lang="en-US" sz="1950" dirty="0">
              <a:latin typeface="Robot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77314" y="2632353"/>
            <a:ext cx="4275653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Activate AWS-native threat detection analyzing CloudTrail, VPC Flow Logs, and DNS logs.</a:t>
            </a:r>
            <a:endParaRPr lang="en-US" sz="1550" dirty="0">
              <a:latin typeface="Roboto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53349" y="1735693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>
              <a:latin typeface="Robot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53349" y="2053233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9653349" y="2199084"/>
            <a:ext cx="2504837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Install Suricata IDS</a:t>
            </a:r>
            <a:endParaRPr lang="en-US" sz="1950" dirty="0">
              <a:latin typeface="Roboto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53349" y="2632353"/>
            <a:ext cx="4275653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Configure open-source intrusion detection system for deep packet inspection and signature-based detection.</a:t>
            </a:r>
            <a:endParaRPr lang="en-US" sz="1550" dirty="0">
              <a:latin typeface="Roboto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1278" y="3944541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>
              <a:latin typeface="Robot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1278" y="4262080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01278" y="4407932"/>
            <a:ext cx="3128367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Simulate Attack Scenarios</a:t>
            </a:r>
            <a:endParaRPr lang="en-US" sz="1950" dirty="0">
              <a:latin typeface="Robo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1278" y="4841200"/>
            <a:ext cx="4275653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Execute controlled port scans and credential misuse to generate authentic security alerts.</a:t>
            </a:r>
            <a:endParaRPr lang="en-US" sz="1550" dirty="0">
              <a:latin typeface="Roboto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77314" y="3944541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550" dirty="0">
              <a:latin typeface="Robot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77314" y="4262080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5177314" y="4407932"/>
            <a:ext cx="308943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Analyze Security Findings</a:t>
            </a:r>
            <a:endParaRPr lang="en-US" sz="1950" dirty="0">
              <a:latin typeface="Robot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77314" y="4841200"/>
            <a:ext cx="4275653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Correlate alerts from multiple sources to identify threats and understand attack patterns.</a:t>
            </a:r>
            <a:endParaRPr lang="en-US" sz="1550" dirty="0">
              <a:latin typeface="Robot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53349" y="3944541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550" dirty="0">
              <a:latin typeface="Robot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53349" y="4262080"/>
            <a:ext cx="4275653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5" name="Text 23"/>
          <p:cNvSpPr/>
          <p:nvPr/>
        </p:nvSpPr>
        <p:spPr>
          <a:xfrm>
            <a:off x="9653349" y="4407932"/>
            <a:ext cx="3095506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Recommend Remediation</a:t>
            </a:r>
            <a:endParaRPr lang="en-US" sz="1950" dirty="0">
              <a:latin typeface="Roboto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53349" y="4841200"/>
            <a:ext cx="4275653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Develop actionable security improvements and incident response procedures.</a:t>
            </a:r>
            <a:endParaRPr lang="en-US" sz="1550" dirty="0">
              <a:latin typeface="Roboto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1278" y="6153388"/>
            <a:ext cx="20038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Fraunces Light" pitchFamily="34" charset="-122"/>
                <a:cs typeface="Fraunces Light" pitchFamily="34" charset="-120"/>
              </a:rPr>
              <a:t>07</a:t>
            </a:r>
            <a:endParaRPr lang="en-US" sz="1550" dirty="0">
              <a:latin typeface="Robot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01278" y="6470928"/>
            <a:ext cx="13227725" cy="2286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9" name="Text 27"/>
          <p:cNvSpPr/>
          <p:nvPr/>
        </p:nvSpPr>
        <p:spPr>
          <a:xfrm>
            <a:off x="701278" y="6616779"/>
            <a:ext cx="324314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Document Implementation</a:t>
            </a:r>
            <a:endParaRPr lang="en-US" sz="1950" dirty="0">
              <a:latin typeface="Roboto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1278" y="7050048"/>
            <a:ext cx="13227725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Prepare comprehensive technical documentation for knowledge transfer and replication.</a:t>
            </a:r>
            <a:endParaRPr lang="en-US" sz="1550" dirty="0">
              <a:latin typeface="Roboto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302" y="7724705"/>
            <a:ext cx="2495898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7221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System Architecture</a:t>
            </a:r>
            <a:endParaRPr lang="en-US" sz="4450" dirty="0">
              <a:latin typeface="Roboto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Detection Layer</a:t>
            </a:r>
            <a:endParaRPr lang="en-US" sz="2650" dirty="0">
              <a:latin typeface="Roboto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36499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EC2 instance running Apache and Suricata</a:t>
            </a:r>
            <a:endParaRPr lang="en-US" sz="1750" dirty="0">
              <a:latin typeface="Robo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4550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VPC Flow Logs capturing network traffic</a:t>
            </a:r>
            <a:endParaRPr lang="en-US" sz="1750" dirty="0">
              <a:latin typeface="Robo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2601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CloudTrail recording API activities</a:t>
            </a:r>
            <a:endParaRPr lang="en-US" sz="1750" dirty="0">
              <a:latin typeface="Roboto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606528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DNS query logging enabled</a:t>
            </a:r>
            <a:endParaRPr lang="en-US" sz="1750" dirty="0">
              <a:latin typeface="Roboto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42721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Analysis &amp; Response</a:t>
            </a:r>
            <a:endParaRPr lang="en-US" sz="2650" dirty="0">
              <a:latin typeface="Roboto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42721" y="36499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GuardDuty processing threat intelligence</a:t>
            </a:r>
            <a:endParaRPr lang="en-US" sz="1750" dirty="0">
              <a:latin typeface="Roboto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42721" y="44550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Suricata analyzing packet payloads</a:t>
            </a:r>
            <a:endParaRPr lang="en-US" sz="1750" dirty="0">
              <a:latin typeface="Roboto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42721" y="52601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Centralized logging and alerting</a:t>
            </a:r>
            <a:endParaRPr lang="en-US" sz="1750" dirty="0">
              <a:latin typeface="Roboto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42721" y="606528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Security findings dashboard</a:t>
            </a:r>
            <a:endParaRPr lang="en-US" sz="1750" dirty="0">
              <a:latin typeface="Roboto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475" y="7626956"/>
            <a:ext cx="2495898" cy="5048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018" r="5668"/>
          <a:stretch/>
        </p:blipFill>
        <p:spPr>
          <a:xfrm>
            <a:off x="0" y="1929651"/>
            <a:ext cx="5846323" cy="4393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458" y="486966"/>
            <a:ext cx="8246269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System Flow: Threat Detection Pipeline</a:t>
            </a:r>
            <a:endParaRPr lang="en-US" sz="3450" dirty="0">
              <a:latin typeface="Roboto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1391126"/>
            <a:ext cx="882134" cy="1058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5924" y="1567458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Threat Sources</a:t>
            </a:r>
            <a:endParaRPr lang="en-US" sz="1700" dirty="0">
              <a:latin typeface="Roboto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75924" y="1948934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 smtClean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External</a:t>
            </a:r>
            <a:r>
              <a:rPr lang="en-US" sz="1350" dirty="0" smtClean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attackers, </a:t>
            </a: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malicious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insiders, automated scanners targeting infrastructure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2449711"/>
            <a:ext cx="882134" cy="1058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75924" y="262604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EC2 Workload</a:t>
            </a:r>
            <a:endParaRPr lang="en-US" sz="1700" dirty="0">
              <a:latin typeface="Roboto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75924" y="3007519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Apache web server exposed to internet traffic for monitoring and detection</a:t>
            </a:r>
            <a:endParaRPr lang="en-US" sz="1350" dirty="0">
              <a:latin typeface="Roboto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75924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Suricata IDS</a:t>
            </a:r>
            <a:endParaRPr lang="en-US" sz="1700" dirty="0">
              <a:latin typeface="Roboto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675924" y="406610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packet inspection and signature </a:t>
            </a: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matching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on network traffic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75924" y="4743212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Cloud Logs</a:t>
            </a:r>
            <a:endParaRPr lang="en-US" sz="1700" dirty="0">
              <a:latin typeface="Roboto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675924" y="512468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CloudTrail, VPC Flow, DNS logs </a:t>
            </a: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aggregated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analysis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75924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GuardDuty</a:t>
            </a:r>
            <a:endParaRPr lang="en-US" sz="1700" dirty="0">
              <a:latin typeface="Roboto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675924" y="618327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AI-powered threat detection using AWS threat intelligence</a:t>
            </a:r>
            <a:endParaRPr lang="en-US" sz="1350" dirty="0">
              <a:latin typeface="Roboto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75924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Security Alerts</a:t>
            </a:r>
            <a:endParaRPr lang="en-US" sz="1700" dirty="0">
              <a:latin typeface="Roboto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675924" y="724185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Consolidated findings and recommended remediation actions</a:t>
            </a:r>
            <a:endParaRPr lang="en-US" sz="1350" dirty="0">
              <a:latin typeface="Roboto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34502" y="7630002"/>
            <a:ext cx="2495898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266" y="476369"/>
            <a:ext cx="7084814" cy="54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Technology Stack &amp; Requirements</a:t>
            </a:r>
            <a:endParaRPr lang="en-US" sz="3400" dirty="0">
              <a:latin typeface="Robot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20517" y="1481845"/>
            <a:ext cx="3854172" cy="2629377"/>
          </a:xfrm>
          <a:prstGeom prst="roundRect">
            <a:avLst>
              <a:gd name="adj" fmla="val 232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7003" y="1639906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AWS Services</a:t>
            </a:r>
            <a:endParaRPr lang="en-US" sz="1700" dirty="0">
              <a:latin typeface="Robo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7003" y="2104191"/>
            <a:ext cx="34926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EC2 (t2.micro or larger)</a:t>
            </a:r>
            <a:endParaRPr lang="en-US" sz="1350" dirty="0">
              <a:latin typeface="Roboto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9203" y="2426017"/>
            <a:ext cx="34926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GuardDuty</a:t>
            </a:r>
            <a:endParaRPr lang="en-US" sz="1350" dirty="0">
              <a:latin typeface="Roboto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7003" y="2747843"/>
            <a:ext cx="34926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CloudTrail</a:t>
            </a:r>
            <a:endParaRPr lang="en-US" sz="1350" dirty="0">
              <a:latin typeface="Roboto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7003" y="3074572"/>
            <a:ext cx="34926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VPC Flow Logs</a:t>
            </a:r>
            <a:endParaRPr lang="en-US" sz="1350" dirty="0">
              <a:latin typeface="Roboto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7003" y="3391495"/>
            <a:ext cx="34926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Route 53 DNS Logs</a:t>
            </a:r>
            <a:endParaRPr lang="en-US" sz="1350" dirty="0">
              <a:latin typeface="Roboto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33375" y="1462378"/>
            <a:ext cx="3854291" cy="2668310"/>
          </a:xfrm>
          <a:prstGeom prst="roundRect">
            <a:avLst>
              <a:gd name="adj" fmla="val 232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8701" y="1677710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Operating System</a:t>
            </a:r>
            <a:endParaRPr lang="en-US" sz="1700" dirty="0">
              <a:latin typeface="Roboto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14291" y="2104191"/>
            <a:ext cx="349281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Ubuntu 20.04 LTS</a:t>
            </a:r>
            <a:endParaRPr lang="en-US" sz="1350" dirty="0">
              <a:latin typeface="Roboto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14111" y="2442966"/>
            <a:ext cx="349281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Apache2 web server</a:t>
            </a:r>
            <a:endParaRPr lang="en-US" sz="1350" dirty="0">
              <a:latin typeface="Roboto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814111" y="2781661"/>
            <a:ext cx="349281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Linux command-line tools</a:t>
            </a:r>
            <a:endParaRPr lang="en-US" sz="1350" dirty="0">
              <a:latin typeface="Roboto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814292" y="3113317"/>
            <a:ext cx="349281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Network utilities</a:t>
            </a:r>
            <a:endParaRPr lang="en-US" sz="1350" dirty="0">
              <a:latin typeface="Roboto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06086" y="4484490"/>
            <a:ext cx="7881580" cy="2080617"/>
          </a:xfrm>
          <a:prstGeom prst="roundRect">
            <a:avLst>
              <a:gd name="adj" fmla="val 260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7003" y="4651414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IDS/IPS Tools</a:t>
            </a:r>
            <a:endParaRPr lang="en-US" sz="1700" dirty="0">
              <a:latin typeface="Roboto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87003" y="4936271"/>
            <a:ext cx="752010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Suricata 6.x or higher</a:t>
            </a:r>
            <a:endParaRPr lang="en-US" sz="1350" dirty="0">
              <a:latin typeface="Roboto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87003" y="5274052"/>
            <a:ext cx="752010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Rule set configuration</a:t>
            </a:r>
            <a:endParaRPr lang="en-US" sz="1350" dirty="0">
              <a:latin typeface="Roboto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87003" y="5611832"/>
            <a:ext cx="752010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Log management</a:t>
            </a:r>
            <a:endParaRPr lang="en-US" sz="1350" dirty="0">
              <a:latin typeface="Roboto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787003" y="5949612"/>
            <a:ext cx="752010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Alert processing</a:t>
            </a:r>
            <a:endParaRPr lang="en-US" sz="1350" dirty="0">
              <a:latin typeface="Roboto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918138" y="1450538"/>
            <a:ext cx="3020973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Minimum Requirements</a:t>
            </a:r>
            <a:endParaRPr lang="en-US" sz="2000" dirty="0">
              <a:latin typeface="Roboto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918138" y="1948339"/>
            <a:ext cx="511349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Compute: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2 vCPUs, 4GB RAM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918138" y="2381369"/>
            <a:ext cx="511349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Storage: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20GB SSD for logs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8918138" y="2814399"/>
            <a:ext cx="511349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Network: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Public IP with security groups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8918138" y="3247430"/>
            <a:ext cx="5113496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IAM: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Appropriate permissions for GuardDuty and logging services</a:t>
            </a:r>
            <a:endParaRPr lang="en-US" sz="13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761" y="7656139"/>
            <a:ext cx="2495898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319" y="314254"/>
            <a:ext cx="5663684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Implementation</a:t>
            </a:r>
            <a:r>
              <a:rPr lang="en-US" sz="36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 Evidence</a:t>
            </a:r>
            <a:endParaRPr lang="en-US" sz="3600" dirty="0">
              <a:latin typeface="Roboto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5319" y="7141131"/>
            <a:ext cx="13339763" cy="59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Screenshots demonstrate successful deployment of all components: EC2 instance provisioned with Ubuntu, Apache web server operational, Suricata IDS initializing properly, GuardDuty generating security findings, and successful detection of simulated port scanning activities.</a:t>
            </a:r>
            <a:endParaRPr lang="en-US" sz="1450" dirty="0">
              <a:latin typeface="Roboto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502" y="7724705"/>
            <a:ext cx="2495898" cy="50489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653" y="742622"/>
            <a:ext cx="5992238" cy="33679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9" y="3760391"/>
            <a:ext cx="6190819" cy="308895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653" y="4256138"/>
            <a:ext cx="6725081" cy="25932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2321"/>
          <a:stretch/>
        </p:blipFill>
        <p:spPr>
          <a:xfrm>
            <a:off x="843773" y="1248851"/>
            <a:ext cx="5992365" cy="2009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608" y="680858"/>
            <a:ext cx="5224582" cy="5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Results &amp; Key Findings</a:t>
            </a:r>
            <a:endParaRPr lang="en-US" sz="3750" dirty="0">
              <a:latin typeface="Robo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9608" y="2055733"/>
            <a:ext cx="2869644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Detection Summary</a:t>
            </a:r>
            <a:endParaRPr lang="en-US" sz="2250" dirty="0">
              <a:latin typeface="Roboto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80296" y="2079665"/>
            <a:ext cx="3798332" cy="3233261"/>
          </a:xfrm>
          <a:prstGeom prst="roundRect">
            <a:avLst>
              <a:gd name="adj" fmla="val 248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4371" y="2293739"/>
            <a:ext cx="326517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GuardDuty Alerts Generated</a:t>
            </a:r>
            <a:endParaRPr lang="en-US" sz="1850" dirty="0">
              <a:latin typeface="Roboto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94371" y="2783919"/>
            <a:ext cx="3370183" cy="122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PortScan Detection:</a:t>
            </a:r>
            <a:r>
              <a:rPr lang="en-US" sz="15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Successfully identified reconnaissance activities from external sources targeting common service ports.</a:t>
            </a:r>
            <a:endParaRPr lang="en-US" sz="1500" dirty="0">
              <a:latin typeface="Roboto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94371" y="4180523"/>
            <a:ext cx="3370183" cy="91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RootCredentialUsage:</a:t>
            </a:r>
            <a:r>
              <a:rPr lang="en-US" sz="15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Detected unauthorized root account access attempts and policy violations.</a:t>
            </a:r>
            <a:endParaRPr lang="en-US" sz="1500" dirty="0">
              <a:latin typeface="Roboto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169843" y="2079665"/>
            <a:ext cx="3798451" cy="3233261"/>
          </a:xfrm>
          <a:prstGeom prst="roundRect">
            <a:avLst>
              <a:gd name="adj" fmla="val 248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83917" y="2293739"/>
            <a:ext cx="250114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Suricata Performance</a:t>
            </a:r>
            <a:endParaRPr lang="en-US" sz="1850" dirty="0">
              <a:latin typeface="Roboto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383917" y="2783919"/>
            <a:ext cx="3370302" cy="153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IDS successfully initialized and began monitoring network traffic in real-time. Packet capture functional with log generation for analysis.</a:t>
            </a:r>
            <a:endParaRPr lang="en-US" sz="1500" dirty="0">
              <a:latin typeface="Roboto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180296" y="5504140"/>
            <a:ext cx="7787997" cy="1530548"/>
          </a:xfrm>
          <a:prstGeom prst="roundRect">
            <a:avLst>
              <a:gd name="adj" fmla="val 5250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94371" y="5718215"/>
            <a:ext cx="242911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Apache Functionality</a:t>
            </a:r>
            <a:endParaRPr lang="en-US" sz="1850" dirty="0">
              <a:latin typeface="Roboto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94371" y="6208395"/>
            <a:ext cx="7359848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Web server remained operational throughout testing, providing realistic attack surface for security monitoring validation.</a:t>
            </a:r>
            <a:endParaRPr lang="en-US" sz="1500" dirty="0">
              <a:latin typeface="Roboto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9068" y="7693151"/>
            <a:ext cx="2495898" cy="50489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08" y="2592705"/>
            <a:ext cx="4663844" cy="4633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414" y="508858"/>
            <a:ext cx="10216039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Challenges, Learnings &amp; Future Enhancements</a:t>
            </a:r>
            <a:endParaRPr lang="en-US" sz="3600" dirty="0">
              <a:latin typeface="Robo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3414" y="1876901"/>
            <a:ext cx="3639979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Implementation Challenges</a:t>
            </a:r>
            <a:endParaRPr lang="en-US" sz="2400" dirty="0">
              <a:latin typeface="Roboto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3414" y="2590115"/>
            <a:ext cx="91916" cy="91916"/>
          </a:xfrm>
          <a:prstGeom prst="roundRect">
            <a:avLst>
              <a:gd name="adj" fmla="val 497411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919162" y="2492483"/>
            <a:ext cx="345757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Suricata Rule Set Configuration</a:t>
            </a:r>
            <a:endParaRPr lang="en-US" sz="2000" dirty="0">
              <a:latin typeface="Robo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9162" y="2963495"/>
            <a:ext cx="6171843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Initial deployment lacked comprehensive detection rules, limiting signature-based threat identification capabilities.</a:t>
            </a:r>
            <a:endParaRPr lang="en-US" sz="1600" dirty="0">
              <a:latin typeface="Robot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3414" y="3952875"/>
            <a:ext cx="91916" cy="91916"/>
          </a:xfrm>
          <a:prstGeom prst="roundRect">
            <a:avLst>
              <a:gd name="adj" fmla="val 497411"/>
            </a:avLst>
          </a:prstGeom>
          <a:solidFill>
            <a:srgbClr val="8C98CA"/>
          </a:solidFill>
          <a:ln/>
        </p:spPr>
      </p:sp>
      <p:sp>
        <p:nvSpPr>
          <p:cNvPr id="8" name="Text 6"/>
          <p:cNvSpPr/>
          <p:nvPr/>
        </p:nvSpPr>
        <p:spPr>
          <a:xfrm>
            <a:off x="919162" y="3855243"/>
            <a:ext cx="306455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IAM Permission Complexity</a:t>
            </a:r>
            <a:endParaRPr lang="en-US" sz="2000" dirty="0">
              <a:latin typeface="Robo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9162" y="4326255"/>
            <a:ext cx="6171843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Properly scoping permissions for GuardDuty and logging services required careful policy design to avoid misconfigurations.</a:t>
            </a:r>
            <a:endParaRPr lang="en-US" sz="1600" dirty="0">
              <a:latin typeface="Robot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3414" y="5379720"/>
            <a:ext cx="91916" cy="91916"/>
          </a:xfrm>
          <a:prstGeom prst="roundRect">
            <a:avLst>
              <a:gd name="adj" fmla="val 497411"/>
            </a:avLst>
          </a:prstGeom>
          <a:solidFill>
            <a:srgbClr val="8C98CA"/>
          </a:solidFill>
          <a:ln/>
        </p:spPr>
      </p:sp>
      <p:sp>
        <p:nvSpPr>
          <p:cNvPr id="11" name="Text 9"/>
          <p:cNvSpPr/>
          <p:nvPr/>
        </p:nvSpPr>
        <p:spPr>
          <a:xfrm>
            <a:off x="919162" y="5282088"/>
            <a:ext cx="299382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Log Correlation Difficulties</a:t>
            </a:r>
            <a:endParaRPr lang="en-US" sz="2000" dirty="0">
              <a:latin typeface="Roboto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9162" y="5753100"/>
            <a:ext cx="6171843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Matching findings across Suricata logs and GuardDuty alerts required manual analysis and time-consuming investigation.</a:t>
            </a:r>
            <a:endParaRPr lang="en-US" sz="1600" dirty="0">
              <a:latin typeface="Roboto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7015" y="1825243"/>
            <a:ext cx="2899529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Future Enhancements</a:t>
            </a:r>
            <a:endParaRPr lang="en-US" sz="2400" dirty="0">
              <a:latin typeface="Roboto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47015" y="2405419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Complete Suricata Rule Deployment: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Install comprehensive rule sets including Emerging Threats and custom signatures</a:t>
            </a:r>
            <a:endParaRPr lang="en-US" sz="1600" dirty="0">
              <a:latin typeface="Robo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47015" y="3134011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Automated Response via Lambda: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Implement serverless functions for automatic remediation actions</a:t>
            </a:r>
            <a:endParaRPr lang="en-US" sz="1600" dirty="0">
              <a:latin typeface="Roboto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47015" y="3839029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SIEM Integration: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Connect to centralized security platform for advanced correlation and reporting</a:t>
            </a:r>
            <a:endParaRPr lang="en-US" sz="1600" dirty="0">
              <a:latin typeface="Roboto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7015" y="4551210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Network Segmentation: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Deploy multi-tier VPC architecture with isolated subnets</a:t>
            </a:r>
            <a:endParaRPr lang="en-US" sz="1600" dirty="0">
              <a:latin typeface="Roboto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47015" y="5265673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ML-Based Anomaly Detection: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Leverage machine learning for behavioral analysis</a:t>
            </a:r>
            <a:endParaRPr lang="en-US" sz="1600" dirty="0">
              <a:latin typeface="Robot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47015" y="5961816"/>
            <a:ext cx="6447592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Infrastructure as Code:</a:t>
            </a:r>
            <a:r>
              <a:rPr lang="en-US" sz="16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Automate deployment using Terraform or CloudFormation templates</a:t>
            </a:r>
            <a:endParaRPr lang="en-US" sz="1600" dirty="0">
              <a:latin typeface="Roboto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502" y="7636684"/>
            <a:ext cx="2495898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84597" y="591622"/>
            <a:ext cx="6856928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Conclusion</a:t>
            </a:r>
            <a:r>
              <a:rPr lang="en-US" sz="32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 and Key Achievements</a:t>
            </a:r>
            <a:endParaRPr lang="en-US" sz="3250" dirty="0">
              <a:latin typeface="Roboto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84597" y="1447800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>
              <a:latin typeface="Roboto"/>
            </a:endParaRPr>
          </a:p>
        </p:txBody>
      </p:sp>
      <p:sp>
        <p:nvSpPr>
          <p:cNvPr id="26" name="Text 2"/>
          <p:cNvSpPr/>
          <p:nvPr/>
        </p:nvSpPr>
        <p:spPr>
          <a:xfrm>
            <a:off x="584597" y="1434214"/>
            <a:ext cx="3075742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Project Accomplishments</a:t>
            </a:r>
            <a:endParaRPr lang="en-US" sz="1950" dirty="0">
              <a:latin typeface="Roboto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84597" y="1997975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Successfully deployed multi-layered Zero-Trust security architecture in AWS cloud environment</a:t>
            </a:r>
            <a:endParaRPr lang="en-US" sz="1300" dirty="0">
              <a:latin typeface="Roboto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84597" y="2323611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Demonstrated effective integration of cloud-native and open-source security tools</a:t>
            </a:r>
            <a:endParaRPr lang="en-US" sz="1300" dirty="0">
              <a:latin typeface="Roboto"/>
            </a:endParaRPr>
          </a:p>
        </p:txBody>
      </p:sp>
      <p:sp>
        <p:nvSpPr>
          <p:cNvPr id="29" name="Text 5"/>
          <p:cNvSpPr/>
          <p:nvPr/>
        </p:nvSpPr>
        <p:spPr>
          <a:xfrm>
            <a:off x="584597" y="2649247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Validated real-time threat detection capabilities through controlled simulations</a:t>
            </a:r>
            <a:endParaRPr lang="en-US" sz="1300" dirty="0">
              <a:latin typeface="Roboto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84597" y="2974883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Established comprehensive monitoring across network, application, and cloud service layers</a:t>
            </a:r>
            <a:endParaRPr lang="en-US" sz="1300" dirty="0">
              <a:latin typeface="Roboto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584597" y="3513376"/>
            <a:ext cx="13461206" cy="28456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32" name="Text 8"/>
          <p:cNvSpPr/>
          <p:nvPr/>
        </p:nvSpPr>
        <p:spPr>
          <a:xfrm>
            <a:off x="584597" y="3987899"/>
            <a:ext cx="3499723" cy="41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Zero-Trust Alignment</a:t>
            </a:r>
            <a:endParaRPr lang="en-US" sz="2600" dirty="0">
              <a:latin typeface="Roboto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84597" y="4655958"/>
            <a:ext cx="13461206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This project exemplifies core Zero-Trust principles: </a:t>
            </a:r>
            <a:r>
              <a:rPr lang="en-US" sz="13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continuous verification</a:t>
            </a: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through multi-source monitoring, </a:t>
            </a:r>
            <a:r>
              <a:rPr lang="en-US" sz="13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least privilege access</a:t>
            </a: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via restrictive IAM policies, and </a:t>
            </a:r>
            <a:r>
              <a:rPr lang="en-US" sz="13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assume breach mentality</a:t>
            </a: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with layered detection mechanisms. The architecture provides a robust framework for modern cloud security.</a:t>
            </a:r>
            <a:endParaRPr lang="en-US" sz="1300" dirty="0">
              <a:latin typeface="Roboto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584597" y="5461628"/>
            <a:ext cx="13461206" cy="28456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35" name="Text 11"/>
          <p:cNvSpPr/>
          <p:nvPr/>
        </p:nvSpPr>
        <p:spPr>
          <a:xfrm>
            <a:off x="584597" y="5782347"/>
            <a:ext cx="8352830" cy="104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2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Thank </a:t>
            </a:r>
            <a:r>
              <a:rPr lang="en-US" sz="4800" dirty="0">
                <a:solidFill>
                  <a:srgbClr val="FFFFFF"/>
                </a:solidFill>
                <a:latin typeface="Roboto"/>
                <a:ea typeface="Fraunces Medium" pitchFamily="34" charset="-122"/>
                <a:cs typeface="Fraunces Medium" pitchFamily="34" charset="-120"/>
              </a:rPr>
              <a:t>You</a:t>
            </a:r>
            <a:endParaRPr lang="en-US" sz="5400" dirty="0">
              <a:latin typeface="Roboto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84597" y="6983784"/>
            <a:ext cx="1346120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Project Repository:</a:t>
            </a:r>
            <a:r>
              <a:rPr lang="en-US" sz="1300" dirty="0">
                <a:solidFill>
                  <a:srgbClr val="EBECEF"/>
                </a:solidFill>
                <a:latin typeface="Roboto"/>
                <a:ea typeface="Epilogue" pitchFamily="34" charset="-122"/>
                <a:cs typeface="Epilogue" pitchFamily="34" charset="-120"/>
              </a:rPr>
              <a:t> Available for detailed review and documentation</a:t>
            </a:r>
            <a:endParaRPr lang="en-US" sz="1300" dirty="0">
              <a:latin typeface="Roboto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283" y="7667547"/>
            <a:ext cx="228631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3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895</Words>
  <Application>Microsoft Office PowerPoint</Application>
  <PresentationFormat>Custom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Epilogue</vt:lpstr>
      <vt:lpstr>Fraunces Light</vt:lpstr>
      <vt:lpstr>Roboto</vt:lpstr>
      <vt:lpstr>Calibri</vt:lpstr>
      <vt:lpstr>Fraunces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Mandeepsinh Dahiya</dc:creator>
  <cp:lastModifiedBy>Microsoft account</cp:lastModifiedBy>
  <cp:revision>21</cp:revision>
  <dcterms:created xsi:type="dcterms:W3CDTF">2025-11-14T16:14:09Z</dcterms:created>
  <dcterms:modified xsi:type="dcterms:W3CDTF">2025-11-14T17:16:00Z</dcterms:modified>
</cp:coreProperties>
</file>